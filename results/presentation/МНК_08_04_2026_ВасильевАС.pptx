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61" r:id="rId2"/>
  </p:sldMasterIdLst>
  <p:notesMasterIdLst>
    <p:notesMasterId r:id="rId20"/>
  </p:notesMasterIdLst>
  <p:sldIdLst>
    <p:sldId id="282" r:id="rId3"/>
    <p:sldId id="269" r:id="rId4"/>
    <p:sldId id="271" r:id="rId5"/>
    <p:sldId id="273" r:id="rId6"/>
    <p:sldId id="274" r:id="rId7"/>
    <p:sldId id="275" r:id="rId8"/>
    <p:sldId id="289" r:id="rId9"/>
    <p:sldId id="290" r:id="rId10"/>
    <p:sldId id="291" r:id="rId11"/>
    <p:sldId id="292" r:id="rId12"/>
    <p:sldId id="293" r:id="rId13"/>
    <p:sldId id="294" r:id="rId14"/>
    <p:sldId id="296" r:id="rId15"/>
    <p:sldId id="295" r:id="rId16"/>
    <p:sldId id="297" r:id="rId17"/>
    <p:sldId id="288" r:id="rId18"/>
    <p:sldId id="267" r:id="rId1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3ECF665-4419-4A80-9EF1-B114E67C776A}" type="datetimeFigureOut">
              <a:rPr lang="ru-RU"/>
              <a:pPr>
                <a:defRPr/>
              </a:pPr>
              <a:t>06.04.2026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8053E247-50FB-4C19-9D4C-41B5D5CF31C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3893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06C6031-3848-4190-A939-C4225B763E01}" type="slidenum">
              <a:rPr lang="ru-RU" sz="1200"/>
              <a:pPr algn="r"/>
              <a:t>1</a:t>
            </a:fld>
            <a:endParaRPr lang="ru-RU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C334B-CE96-4270-BFB3-7F0DD762E148}" type="datetime1">
              <a:rPr lang="ru-RU"/>
              <a:pPr>
                <a:defRPr/>
              </a:pPr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7DCC9-9204-45B6-A94F-829E0B20ABA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4009D-9177-45FC-9735-42E4008D63F6}" type="datetime1">
              <a:rPr lang="ru-RU"/>
              <a:pPr>
                <a:defRPr/>
              </a:pPr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636EEE-9675-4EC9-B64B-C2E9E79543D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494985-87B3-485C-B850-2D54233DF4C6}" type="datetime1">
              <a:rPr lang="ru-RU"/>
              <a:pPr>
                <a:defRPr/>
              </a:pPr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BC63CA-BF39-4BC7-9C80-20F4F96A28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6F4469-524B-41EB-8800-714A2CA35C08}" type="datetime1">
              <a:rPr lang="ru-RU"/>
              <a:pPr>
                <a:defRPr/>
              </a:pPr>
              <a:t>06.04.2026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1C8765-B605-4CD7-9628-64A78960648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85A714-B030-47AB-BDC4-D0B88003891B}" type="datetime1">
              <a:rPr lang="ru-RU"/>
              <a:pPr>
                <a:defRPr/>
              </a:pPr>
              <a:t>06.04.2026</a:t>
            </a:fld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7F3EC-4E57-42CE-8F17-A18B5631764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3204F1-53A7-44A2-8AC2-FBFD2B542DA3}" type="datetime1">
              <a:rPr lang="ru-RU"/>
              <a:pPr>
                <a:defRPr/>
              </a:pPr>
              <a:t>06.04.2026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1005D9-8C4C-48E2-9C29-FB27713187D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710345-4086-4AC8-B998-0589581F5114}" type="datetime1">
              <a:rPr lang="ru-RU"/>
              <a:pPr>
                <a:defRPr/>
              </a:pPr>
              <a:t>06.04.2026</a:t>
            </a:fld>
            <a:endParaRPr lang="ru-R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1801AA-5B28-46FD-965F-9748B35B5CB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F4E81B-9E39-4794-BBEF-F95C3AA0E1DC}" type="datetime1">
              <a:rPr lang="ru-RU"/>
              <a:pPr>
                <a:defRPr/>
              </a:pPr>
              <a:t>06.04.2026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681991-B7F4-47DD-B293-F9CB77BA809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ED8EB-41AD-4729-BE31-8369C5E4ABDE}" type="datetime1">
              <a:rPr lang="ru-RU"/>
              <a:pPr>
                <a:defRPr/>
              </a:pPr>
              <a:t>06.04.2026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B7676-8F8D-440E-AA1D-B60F7CDF6E7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EC5E6D-7670-4A8B-B8D8-A58004B54CC9}" type="datetime1">
              <a:rPr lang="ru-RU"/>
              <a:pPr>
                <a:defRPr/>
              </a:pPr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0281F7-546E-465C-A3CF-7A570468BD5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105839-FC90-4925-9CFF-B57EB28FE845}" type="datetime1">
              <a:rPr lang="ru-RU"/>
              <a:pPr>
                <a:defRPr/>
              </a:pPr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7F6369-D2B2-464C-8F00-2A615B8F7DC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Заголовок и четыре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sz="quarter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28650" y="1825625"/>
            <a:ext cx="3867150" cy="2098675"/>
          </a:xfrm>
        </p:spPr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</p:spPr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628650" y="4076700"/>
            <a:ext cx="3867150" cy="2100263"/>
          </a:xfrm>
        </p:spPr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8200" y="4076700"/>
            <a:ext cx="3867150" cy="2100263"/>
          </a:xfrm>
        </p:spPr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8E1B9-2053-41A4-8558-E70D322FBCAB}" type="datetime1">
              <a:rPr lang="ru-RU"/>
              <a:pPr>
                <a:defRPr/>
              </a:pPr>
              <a:t>06.04.2026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30E0D-8BFA-4731-99C2-80C41258C86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</p:spPr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C7693-41E0-4499-91FB-324152208D68}" type="datetime1">
              <a:rPr lang="ru-RU"/>
              <a:pPr>
                <a:defRPr/>
              </a:pPr>
              <a:t>06.04.2026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E285A4-9EED-432E-8C62-E002DD0D1B6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73D002-68D1-481A-AFCC-B49B4C9D34FF}" type="datetime1">
              <a:rPr lang="ru-RU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E27B25-F2DF-4284-B35A-84F029CC000A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3A18E0-ED43-4CBC-946F-D0C7CF6256A0}" type="datetime1">
              <a:rPr lang="ru-RU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70C58-32EC-4F4B-B785-1B76B0D45F36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1D16B7-6E0A-41DA-B2B0-99E599C26A78}" type="datetime1">
              <a:rPr lang="ru-RU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A54098-14C4-4196-910D-8BB4C6B055BD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46F2C38-CA12-44DB-8EE7-37505D0F8BE1}" type="datetime1">
              <a:rPr lang="ru-RU"/>
              <a:pPr/>
              <a:t>06.04.2026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976FED-1FDC-429A-956B-860EFE2D2601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5EBB65-9728-4660-A13A-E5D04A249BFD}" type="datetime1">
              <a:rPr lang="ru-RU"/>
              <a:pPr/>
              <a:t>06.04.2026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AE0B10-2117-44E8-8560-5D2B53A38415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CD05669-C32F-48C4-929B-C4E37C161CA3}" type="datetime1">
              <a:rPr lang="ru-RU"/>
              <a:pPr/>
              <a:t>06.04.2026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D205F-F3E2-4969-82EC-717E80C383C2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9212E4-4B18-43E3-A2DB-2ECB8F1EDD35}" type="datetime1">
              <a:rPr lang="ru-RU"/>
              <a:pPr/>
              <a:t>06.04.2026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7E8CA5-FD32-4D38-8187-EE588BBB05AF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0D5C8C-5C1B-41CD-9431-13DF98CCB228}" type="datetime1">
              <a:rPr lang="ru-RU"/>
              <a:pPr/>
              <a:t>06.04.2026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FA5D03-6B0D-4804-9330-B38585EB01D1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71FB71F-28C0-4D92-9AD6-B8B057CC073F}" type="datetime1">
              <a:rPr lang="ru-RU"/>
              <a:pPr/>
              <a:t>06.04.2026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7AC949-342E-4C7A-8ADB-563E001437E5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3639BB-7D0A-4558-AC06-48E29FCE4EE5}" type="datetime1">
              <a:rPr lang="ru-RU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D23C37-D921-4C4B-8442-B6EAD8B57EA6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7465E1-CE95-4073-A635-C70028082378}" type="datetime1">
              <a:rPr lang="ru-RU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B33717-9BAC-4AFE-B210-CE8A1E8B7933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5CDBB7A-2D8C-400D-B614-635F6FD55ED6}" type="datetime1">
              <a:rPr lang="ru-RU"/>
              <a:pPr>
                <a:defRPr/>
              </a:pPr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6025FFD-7929-48E1-AAD8-5497ADC4D71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70" r:id="rId3"/>
    <p:sldLayoutId id="2147483669" r:id="rId4"/>
    <p:sldLayoutId id="2147483668" r:id="rId5"/>
    <p:sldLayoutId id="2147483667" r:id="rId6"/>
    <p:sldLayoutId id="2147483666" r:id="rId7"/>
    <p:sldLayoutId id="2147483665" r:id="rId8"/>
    <p:sldLayoutId id="2147483664" r:id="rId9"/>
    <p:sldLayoutId id="2147483663" r:id="rId10"/>
    <p:sldLayoutId id="2147483662" r:id="rId11"/>
    <p:sldLayoutId id="2147483684" r:id="rId12"/>
    <p:sldLayoutId id="2147483685" r:id="rId13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CC45E603-00C5-4E75-8EF3-CDD0415BD2F8}" type="datetime1">
              <a:rPr lang="ru-RU"/>
              <a:pPr/>
              <a:t>06.04.2026</a:t>
            </a:fld>
            <a:endParaRPr lang="ru-RU"/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/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2A10327-606D-45C3-A208-9B04A8A0AF67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Text Box 5"/>
          <p:cNvSpPr txBox="1">
            <a:spLocks noChangeArrowheads="1"/>
          </p:cNvSpPr>
          <p:nvPr/>
        </p:nvSpPr>
        <p:spPr bwMode="auto">
          <a:xfrm>
            <a:off x="3203575" y="5300663"/>
            <a:ext cx="547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работу: Васильев А. С.</a:t>
            </a:r>
            <a:endParaRPr lang="ru-RU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5" name="Text Box 6"/>
          <p:cNvSpPr txBox="1">
            <a:spLocks noChangeArrowheads="1"/>
          </p:cNvSpPr>
          <p:nvPr/>
        </p:nvSpPr>
        <p:spPr bwMode="auto">
          <a:xfrm>
            <a:off x="3203575" y="5661025"/>
            <a:ext cx="564781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Руководитель, д.ф.-м.н.,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додент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Скиданов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Р. 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0966" name="Text Box 8"/>
          <p:cNvSpPr txBox="1">
            <a:spLocks noChangeArrowheads="1"/>
          </p:cNvSpPr>
          <p:nvPr/>
        </p:nvSpPr>
        <p:spPr bwMode="auto">
          <a:xfrm>
            <a:off x="1116013" y="188913"/>
            <a:ext cx="7129462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 высшего образования «Самарский государственный аэрокосмический университет имени академика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С.П.Королёва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(национальный исследовательский университет)»</a:t>
            </a:r>
          </a:p>
        </p:txBody>
      </p:sp>
      <p:sp>
        <p:nvSpPr>
          <p:cNvPr id="40967" name="Text Box 9"/>
          <p:cNvSpPr txBox="1">
            <a:spLocks noChangeArrowheads="1"/>
          </p:cNvSpPr>
          <p:nvPr/>
        </p:nvSpPr>
        <p:spPr bwMode="auto">
          <a:xfrm>
            <a:off x="2555875" y="1584232"/>
            <a:ext cx="4103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>
                <a:latin typeface="Times New Roman" pitchFamily="18" charset="0"/>
              </a:rPr>
              <a:t>Кафедра технической кибернетики</a:t>
            </a:r>
          </a:p>
        </p:txBody>
      </p:sp>
      <p:sp>
        <p:nvSpPr>
          <p:cNvPr id="40968" name="Text Box 8"/>
          <p:cNvSpPr txBox="1">
            <a:spLocks noChangeArrowheads="1"/>
          </p:cNvSpPr>
          <p:nvPr/>
        </p:nvSpPr>
        <p:spPr bwMode="auto">
          <a:xfrm>
            <a:off x="1494024" y="3046413"/>
            <a:ext cx="6624637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Научно-исследовательская работа по теме </a:t>
            </a:r>
          </a:p>
          <a:p>
            <a:pPr algn="ctr">
              <a:spcBef>
                <a:spcPct val="500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оптимизации </a:t>
            </a:r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 гармонических линз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69" name="Picture 9" descr="logo_2_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825" y="1125538"/>
            <a:ext cx="2128838" cy="9842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611188" y="142875"/>
            <a:ext cx="812165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Rectangle 3"/>
              <p:cNvSpPr>
                <a:spLocks noChangeArrowheads="1"/>
              </p:cNvSpPr>
              <p:nvPr/>
            </p:nvSpPr>
            <p:spPr bwMode="auto">
              <a:xfrm>
                <a:off x="468313" y="1268413"/>
                <a:ext cx="8229600" cy="452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609600" indent="-609600">
                  <a:lnSpc>
                    <a:spcPct val="90000"/>
                  </a:lnSpc>
                  <a:spcBef>
                    <a:spcPts val="1000"/>
                  </a:spcBef>
                  <a:buFont typeface="Arial" charset="0"/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Цели: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609600" indent="-609600">
                  <a:lnSpc>
                    <a:spcPct val="90000"/>
                  </a:lnSpc>
                  <a:spcBef>
                    <a:spcPts val="1000"/>
                  </a:spcBef>
                  <a:buFontTx/>
                  <a:buAutoNum type="arabicParenR"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Разработка алгоритма для поиска оптимальных высот для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≥2</m:t>
                    </m:r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гармонических линз для </a:t>
                </a:r>
                <a:r>
                  <a:rPr lang="ru-R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нахождениея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минимального фокального отрезка.</a:t>
                </a:r>
                <a:endParaRPr lang="ru-RU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90000"/>
                  </a:lnSpc>
                  <a:spcBef>
                    <a:spcPts val="1000"/>
                  </a:spcBef>
                  <a:buFont typeface="Arial" charset="0"/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Задачи:</a:t>
                </a:r>
              </a:p>
              <a:p>
                <a:pPr marL="609600" indent="-609600">
                  <a:lnSpc>
                    <a:spcPct val="90000"/>
                  </a:lnSpc>
                  <a:spcBef>
                    <a:spcPts val="1000"/>
                  </a:spcBef>
                  <a:buFontTx/>
                  <a:buAutoNum type="arabicParenR"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Графически представить зависимость фокусного расстояния от длины волны.</a:t>
                </a:r>
              </a:p>
              <a:p>
                <a:pPr marL="609600" indent="-609600">
                  <a:lnSpc>
                    <a:spcPct val="90000"/>
                  </a:lnSpc>
                  <a:spcBef>
                    <a:spcPts val="1000"/>
                  </a:spcBef>
                  <a:buFontTx/>
                  <a:buAutoNum type="arabicParenR"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каждой оптической системы определить и вывести значения фокального отрезка и соответствующему ему пары высот.</a:t>
                </a:r>
              </a:p>
            </p:txBody>
          </p:sp>
        </mc:Choice>
        <mc:Fallback xmlns="">
          <p:sp>
            <p:nvSpPr>
              <p:cNvPr id="20483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313" y="1268413"/>
                <a:ext cx="8229600" cy="4522787"/>
              </a:xfrm>
              <a:prstGeom prst="rect">
                <a:avLst/>
              </a:prstGeom>
              <a:blipFill>
                <a:blip r:embed="rId2"/>
                <a:stretch>
                  <a:fillRect l="-1037" t="-188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6" name="TextBox 7"/>
          <p:cNvSpPr txBox="1">
            <a:spLocks noChangeArrowheads="1"/>
          </p:cNvSpPr>
          <p:nvPr/>
        </p:nvSpPr>
        <p:spPr bwMode="auto">
          <a:xfrm>
            <a:off x="8067675" y="6332538"/>
            <a:ext cx="468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fld id="{98E1026B-6088-495F-9B4A-7094F8443EC5}" type="slidenum">
              <a:rPr lang="ru-RU">
                <a:solidFill>
                  <a:schemeClr val="bg1"/>
                </a:solidFill>
                <a:latin typeface="Elektra Medium Pro"/>
              </a:rPr>
              <a:pPr algn="ctr"/>
              <a:t>2</a:t>
            </a:fld>
            <a:endParaRPr lang="ru-RU">
              <a:solidFill>
                <a:schemeClr val="bg1"/>
              </a:solidFill>
              <a:latin typeface="Elektra Medium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611188" y="3690769"/>
            <a:ext cx="8229600" cy="1788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450000" algn="just">
              <a:spcAft>
                <a:spcPts val="0"/>
              </a:spcAft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Классические оптические системы имеют ограничение по габаритам – с увеличением кол-ва элементов они увеличивают свой размер. В последнее время появился интерес к дифракционной оптике. Гармоническая дифракционная линза (ГДЛ) – это гибрид дифракционной и рефракционной линзы. Преимущество такой линзы в том, что она уменьшает хроматическую аберрацию, за счет комбинирования дифракционных и рефракционных линз, обладающим противоположным хроматизмом.</a:t>
            </a:r>
          </a:p>
          <a:p>
            <a:pPr indent="450000" algn="just">
              <a:spcAft>
                <a:spcPts val="0"/>
              </a:spcAft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 гармонической линзы есть недостаток – низкое качество изображения. Чтобы исправить это необходимо либо повышать высоту микрорельефа, что технологически невозможно с определённого момента либо попытаться объединить гармонически линзы в систему, тем самым уменьшая величину фокального пятна. В ходе работы будет предложен алгоритм, который заставляет работать систему линз как единое целое для достижения поставленной цели.</a:t>
            </a:r>
          </a:p>
        </p:txBody>
      </p:sp>
      <p:sp>
        <p:nvSpPr>
          <p:cNvPr id="22534" name="Rectangle 2"/>
          <p:cNvSpPr>
            <a:spLocks noChangeArrowheads="1"/>
          </p:cNvSpPr>
          <p:nvPr/>
        </p:nvSpPr>
        <p:spPr bwMode="auto">
          <a:xfrm>
            <a:off x="611188" y="142875"/>
            <a:ext cx="812165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</a:t>
            </a:r>
          </a:p>
        </p:txBody>
      </p:sp>
      <p:sp>
        <p:nvSpPr>
          <p:cNvPr id="22535" name="TextBox 7"/>
          <p:cNvSpPr txBox="1">
            <a:spLocks noChangeArrowheads="1"/>
          </p:cNvSpPr>
          <p:nvPr/>
        </p:nvSpPr>
        <p:spPr bwMode="auto">
          <a:xfrm>
            <a:off x="8067675" y="6332538"/>
            <a:ext cx="468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fld id="{66270ABA-16A7-4615-9BFB-F0949F52BF44}" type="slidenum">
              <a:rPr lang="ru-RU">
                <a:solidFill>
                  <a:schemeClr val="bg1"/>
                </a:solidFill>
                <a:latin typeface="Elektra Medium Pro"/>
              </a:rPr>
              <a:pPr algn="ctr"/>
              <a:t>3</a:t>
            </a:fld>
            <a:endParaRPr lang="ru-RU">
              <a:solidFill>
                <a:schemeClr val="bg1"/>
              </a:solidFill>
              <a:latin typeface="Elektra Medium Pro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8EBB2D-F132-444B-89D4-C2806481BEB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852" y="854075"/>
            <a:ext cx="3316295" cy="27059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56DC84-4C53-4E1A-9A9B-C06C0D555669}"/>
              </a:ext>
            </a:extLst>
          </p:cNvPr>
          <p:cNvSpPr txBox="1"/>
          <p:nvPr/>
        </p:nvSpPr>
        <p:spPr>
          <a:xfrm>
            <a:off x="611188" y="5609933"/>
            <a:ext cx="7964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ru-RU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Расчёт дифракционной линзы с фиксированным положением фокуса при нескольких длинах волн / Л.Л. </a:t>
            </a:r>
            <a:r>
              <a:rPr lang="ru-RU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Досколович</a:t>
            </a:r>
            <a:r>
              <a:rPr lang="ru-RU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Е.А. Безус, Д.А. Быков, Р.В. </a:t>
            </a:r>
            <a:r>
              <a:rPr lang="ru-RU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Скиданов</a:t>
            </a:r>
            <a:r>
              <a:rPr lang="ru-RU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Н.Л. Казанский // Компьютерная оптика </a:t>
            </a:r>
            <a:r>
              <a:rPr lang="ru-RU" sz="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2019 </a:t>
            </a:r>
            <a:r>
              <a:rPr lang="ru-RU" sz="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Т.43, № 43, № 6 </a:t>
            </a:r>
            <a:r>
              <a:rPr lang="ru-RU" sz="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С.946-955. </a:t>
            </a:r>
            <a:r>
              <a:rPr lang="ru-RU" sz="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DOI: 10.18287/2412-6179-2019-43-6-946-955</a:t>
            </a:r>
            <a:r>
              <a:rPr lang="en-US" sz="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buFontTx/>
              <a:buAutoNum type="arabicPeriod"/>
            </a:pPr>
            <a:r>
              <a:rPr lang="ru-RU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Скиданов</a:t>
            </a:r>
            <a:r>
              <a:rPr lang="ru-RU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Р.В. Экспериментальное исследование дифракционных линз для работы с излучением нескольких заданных длин волн / Р.В. </a:t>
            </a:r>
            <a:r>
              <a:rPr lang="ru-RU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Скиданов</a:t>
            </a:r>
            <a:r>
              <a:rPr lang="ru-RU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Л.Л. </a:t>
            </a:r>
            <a:r>
              <a:rPr lang="ru-RU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Досколович</a:t>
            </a:r>
            <a:r>
              <a:rPr lang="ru-RU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С.В. </a:t>
            </a:r>
            <a:r>
              <a:rPr lang="ru-RU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Ганчевская</a:t>
            </a:r>
            <a:r>
              <a:rPr lang="ru-RU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В.А. Бланк, В.В. </a:t>
            </a:r>
            <a:r>
              <a:rPr lang="ru-RU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Подлипнов</a:t>
            </a:r>
            <a:r>
              <a:rPr lang="ru-RU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Н.Л. Казанский // Компьютерная оптика. – 2020. – Т. 44, № 1. – С. 22-28. – </a:t>
            </a:r>
            <a:r>
              <a:rPr lang="en-US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ru-RU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10.18287/2412-6179-</a:t>
            </a:r>
            <a:r>
              <a:rPr lang="en-US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ru-RU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-646.</a:t>
            </a:r>
          </a:p>
          <a:p>
            <a:pPr marL="228600" indent="-228600">
              <a:buAutoNum type="arabicPeriod"/>
            </a:pPr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580" name="Text Box 4"/>
              <p:cNvSpPr txBox="1">
                <a:spLocks noChangeArrowheads="1"/>
              </p:cNvSpPr>
              <p:nvPr/>
            </p:nvSpPr>
            <p:spPr bwMode="auto">
              <a:xfrm>
                <a:off x="611188" y="1043686"/>
                <a:ext cx="7993063" cy="2031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indent="361950" algn="just">
                  <a:spcBef>
                    <a:spcPct val="50000"/>
                  </a:spcBef>
                </a:pP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 ходе работы будет рассмотрено параксиальное приближение. Данный подход позволяет применить матричную оптику. </a:t>
                </a:r>
              </a:p>
              <a:p>
                <a:pPr indent="361950" algn="just">
                  <a:spcBef>
                    <a:spcPct val="50000"/>
                  </a:spcBef>
                </a:pP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Матрица такой системы будет состоять из произведения матриц преломления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и переноса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для отдельных компонентов. В результате получится набор матриц, которые нужно перемножить в обратном порядке.</a:t>
                </a:r>
              </a:p>
              <a:p>
                <a:pPr indent="361950" algn="just">
                  <a:spcBef>
                    <a:spcPct val="50000"/>
                  </a:spcBef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580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8" y="1043686"/>
                <a:ext cx="7993063" cy="2031325"/>
              </a:xfrm>
              <a:prstGeom prst="rect">
                <a:avLst/>
              </a:prstGeom>
              <a:blipFill>
                <a:blip r:embed="rId2"/>
                <a:stretch>
                  <a:fillRect l="-610" t="-1502" r="-68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89" name="TextBox 7"/>
          <p:cNvSpPr txBox="1">
            <a:spLocks noChangeArrowheads="1"/>
          </p:cNvSpPr>
          <p:nvPr/>
        </p:nvSpPr>
        <p:spPr bwMode="auto">
          <a:xfrm>
            <a:off x="8067675" y="6332538"/>
            <a:ext cx="468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fld id="{3F3C10C8-759B-4F13-B3CB-E5B2049DA2B5}" type="slidenum">
              <a:rPr lang="ru-RU">
                <a:solidFill>
                  <a:schemeClr val="bg1"/>
                </a:solidFill>
                <a:latin typeface="Elektra Medium Pro"/>
              </a:rPr>
              <a:pPr algn="ctr"/>
              <a:t>4</a:t>
            </a:fld>
            <a:endParaRPr lang="ru-RU">
              <a:solidFill>
                <a:schemeClr val="bg1"/>
              </a:solidFill>
              <a:latin typeface="Elektra Medium Pro"/>
            </a:endParaRPr>
          </a:p>
        </p:txBody>
      </p:sp>
      <p:sp>
        <p:nvSpPr>
          <p:cNvPr id="24591" name="Rectangle 2"/>
          <p:cNvSpPr>
            <a:spLocks noChangeArrowheads="1"/>
          </p:cNvSpPr>
          <p:nvPr/>
        </p:nvSpPr>
        <p:spPr bwMode="auto">
          <a:xfrm>
            <a:off x="611188" y="142875"/>
            <a:ext cx="812165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Теоретическое описание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32C868-807A-4DB8-B619-7D3FC3E4F203}"/>
                  </a:ext>
                </a:extLst>
              </p:cNvPr>
              <p:cNvSpPr txBox="1"/>
              <p:nvPr/>
            </p:nvSpPr>
            <p:spPr>
              <a:xfrm>
                <a:off x="899160" y="2572125"/>
                <a:ext cx="7345680" cy="12007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7470" marR="68580">
                  <a:lnSpc>
                    <a:spcPct val="150000"/>
                  </a:lnSpc>
                  <a:spcBef>
                    <a:spcPts val="5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𝐺</m:t>
                      </m:r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3 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...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[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ru-RU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7470" marR="68580">
                  <a:lnSpc>
                    <a:spcPct val="150000"/>
                  </a:lnSpc>
                  <a:spcBef>
                    <a:spcPts val="5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𝐺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[</m:t>
                      </m:r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11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ru-RU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32C868-807A-4DB8-B619-7D3FC3E4F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160" y="2572125"/>
                <a:ext cx="7345680" cy="12007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36331C4-80F7-4B45-AAA4-228A5B86B183}"/>
                  </a:ext>
                </a:extLst>
              </p:cNvPr>
              <p:cNvSpPr txBox="1"/>
              <p:nvPr/>
            </p:nvSpPr>
            <p:spPr>
              <a:xfrm>
                <a:off x="2286000" y="3612129"/>
                <a:ext cx="4572000" cy="958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7470" marR="68580">
                  <a:lnSpc>
                    <a:spcPct val="150000"/>
                  </a:lnSpc>
                  <a:spcBef>
                    <a:spcPts val="5"/>
                  </a:spcBef>
                  <a:spcAft>
                    <a:spcPts val="0"/>
                  </a:spcAf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 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−Ф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 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[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ru-RU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36331C4-80F7-4B45-AAA4-228A5B86B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612129"/>
                <a:ext cx="4572000" cy="958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611188" y="851163"/>
            <a:ext cx="7993063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indent="450000" algn="just">
              <a:spcBef>
                <a:spcPts val="0"/>
              </a:spcBef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результате произведения матриц переноса и матриц преломления мы получим матрицу вида [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]: в этой матрице нам интересен элемент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который связан с оптической силой таким уравнением:</a:t>
            </a:r>
          </a:p>
          <a:p>
            <a:pPr indent="361950" algn="just">
              <a:spcBef>
                <a:spcPts val="0"/>
              </a:spcBef>
            </a:pPr>
            <a:endParaRPr lang="ru-RU" sz="2800" dirty="0"/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7885113" y="5013325"/>
            <a:ext cx="863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ru-RU"/>
          </a:p>
        </p:txBody>
      </p:sp>
      <p:sp>
        <p:nvSpPr>
          <p:cNvPr id="25614" name="Rectangle 2"/>
          <p:cNvSpPr>
            <a:spLocks noChangeArrowheads="1"/>
          </p:cNvSpPr>
          <p:nvPr/>
        </p:nvSpPr>
        <p:spPr bwMode="auto">
          <a:xfrm>
            <a:off x="611188" y="142875"/>
            <a:ext cx="812165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Теоретическое описание</a:t>
            </a:r>
          </a:p>
        </p:txBody>
      </p:sp>
      <p:sp>
        <p:nvSpPr>
          <p:cNvPr id="25615" name="TextBox 7"/>
          <p:cNvSpPr txBox="1">
            <a:spLocks noChangeArrowheads="1"/>
          </p:cNvSpPr>
          <p:nvPr/>
        </p:nvSpPr>
        <p:spPr bwMode="auto">
          <a:xfrm>
            <a:off x="8067675" y="6332538"/>
            <a:ext cx="468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fld id="{1EEC1A8F-F858-42C6-B51B-832828094E1D}" type="slidenum">
              <a:rPr lang="ru-RU">
                <a:solidFill>
                  <a:schemeClr val="bg1"/>
                </a:solidFill>
                <a:latin typeface="Elektra Medium Pro"/>
              </a:rPr>
              <a:pPr algn="ctr"/>
              <a:t>5</a:t>
            </a:fld>
            <a:endParaRPr lang="ru-RU">
              <a:solidFill>
                <a:schemeClr val="bg1"/>
              </a:solidFill>
              <a:latin typeface="Elektra Medium Pr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B556C4C-80A6-4D89-93B5-C3880D9F1F32}"/>
                  </a:ext>
                </a:extLst>
              </p:cNvPr>
              <p:cNvSpPr txBox="1"/>
              <p:nvPr/>
            </p:nvSpPr>
            <p:spPr>
              <a:xfrm>
                <a:off x="2286000" y="1743207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 = −Ф 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B556C4C-80A6-4D89-93B5-C3880D9F1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743207"/>
                <a:ext cx="45720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28B55C4-30C4-4BBC-9249-A250EDB90236}"/>
              </a:ext>
            </a:extLst>
          </p:cNvPr>
          <p:cNvSpPr txBox="1"/>
          <p:nvPr/>
        </p:nvSpPr>
        <p:spPr>
          <a:xfrm>
            <a:off x="611188" y="2128097"/>
            <a:ext cx="8121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Также мы знаем как связаны фокусное расстояние и оптическая сила линзы:</a:t>
            </a:r>
          </a:p>
          <a:p>
            <a:pPr indent="450000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9F7ECF-7CDC-4FB1-AC7A-D4D447FCD60F}"/>
                  </a:ext>
                </a:extLst>
              </p:cNvPr>
              <p:cNvSpPr txBox="1"/>
              <p:nvPr/>
            </p:nvSpPr>
            <p:spPr>
              <a:xfrm>
                <a:off x="2286000" y="2433166"/>
                <a:ext cx="4572000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9F7ECF-7CDC-4FB1-AC7A-D4D447FCD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433166"/>
                <a:ext cx="4572000" cy="610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68F8D925-387F-4EBF-87A5-8C7597623533}"/>
              </a:ext>
            </a:extLst>
          </p:cNvPr>
          <p:cNvSpPr txBox="1"/>
          <p:nvPr/>
        </p:nvSpPr>
        <p:spPr>
          <a:xfrm>
            <a:off x="611187" y="3044102"/>
            <a:ext cx="7993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450000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Чтобы найти оптическую силу, необходимо знать фокусное расстояние. Для гармонической линзы фокусное расстояние находится таким образом: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01C5505-07B4-4FBA-809F-D75B70638296}"/>
                  </a:ext>
                </a:extLst>
              </p:cNvPr>
              <p:cNvSpPr txBox="1"/>
              <p:nvPr/>
            </p:nvSpPr>
            <p:spPr>
              <a:xfrm>
                <a:off x="2386012" y="3567066"/>
                <a:ext cx="4572000" cy="618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01C5505-07B4-4FBA-809F-D75B70638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012" y="3567066"/>
                <a:ext cx="4572000" cy="6183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592047-CCAD-4274-99A2-C0100992794C}"/>
                  </a:ext>
                </a:extLst>
              </p:cNvPr>
              <p:cNvSpPr txBox="1"/>
              <p:nvPr/>
            </p:nvSpPr>
            <p:spPr>
              <a:xfrm>
                <a:off x="611187" y="4200045"/>
                <a:ext cx="8121649" cy="2367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68580" algn="just">
                  <a:lnSpc>
                    <a:spcPct val="150000"/>
                  </a:lnSpc>
                  <a:spcBef>
                    <a:spcPts val="5"/>
                  </a:spcBef>
                  <a:spcAft>
                    <a:spcPts val="0"/>
                  </a:spcAft>
                </a:pP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:r>
                  <a:rPr lang="en-US" sz="1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ru-RU" sz="1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степень гармоники линзы</a:t>
                </a:r>
              </a:p>
              <a:p>
                <a:pPr marL="288000" marR="68580" algn="just">
                  <a:lnSpc>
                    <a:spcPct val="150000"/>
                  </a:lnSpc>
                  <a:spcBef>
                    <a:spcPts val="5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λ</m:t>
                        </m:r>
                      </m:e>
                      <m:sub>
                        <m:r>
                          <a:rPr lang="ru-RU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0 </m:t>
                        </m:r>
                      </m:sub>
                    </m:sSub>
                  </m:oMath>
                </a14:m>
                <a:r>
                  <a:rPr lang="ru-RU" sz="1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базовая длина волны, для которой изготовлена линза, </a:t>
                </a:r>
                <a:r>
                  <a:rPr lang="ru-RU" sz="1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нм</a:t>
                </a:r>
                <a:endParaRPr lang="ru-RU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8000" marR="68580" algn="just">
                  <a:lnSpc>
                    <a:spcPct val="150000"/>
                  </a:lnSpc>
                  <a:spcBef>
                    <a:spcPts val="5"/>
                  </a:spcBef>
                  <a:spcAft>
                    <a:spcPts val="0"/>
                  </a:spcAft>
                </a:pPr>
                <a:r>
                  <a:rPr lang="ru-RU" sz="1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λ – длина волны падающего излучения, </a:t>
                </a:r>
                <a:r>
                  <a:rPr lang="ru-RU" sz="1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нм</a:t>
                </a:r>
                <a:endParaRPr lang="ru-RU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8000" marR="68580" algn="just">
                  <a:lnSpc>
                    <a:spcPct val="150000"/>
                  </a:lnSpc>
                  <a:spcBef>
                    <a:spcPts val="5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базовый фокус для линзы, см</a:t>
                </a:r>
              </a:p>
              <a:p>
                <a:pPr marL="288000" marR="68580" algn="just">
                  <a:lnSpc>
                    <a:spcPct val="150000"/>
                  </a:lnSpc>
                  <a:spcBef>
                    <a:spcPts val="5"/>
                  </a:spcBef>
                  <a:spcAft>
                    <a:spcPts val="0"/>
                  </a:spcAft>
                </a:pPr>
                <a:r>
                  <a:rPr lang="en-US" sz="1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ru-RU" sz="1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параметр, который рассчитывается по формуле: </a:t>
                </a:r>
                <a14:m>
                  <m:oMath xmlns:m="http://schemas.openxmlformats.org/officeDocument/2006/math">
                    <m:r>
                      <a:rPr lang="ru-RU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𝑟𝑜𝑢𝑛𝑑</m:t>
                    </m:r>
                    <m:r>
                      <a:rPr lang="ru-RU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f>
                      <m:fPr>
                        <m:ctrlPr>
                          <a:rPr lang="ru-RU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ru-RU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4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ru-RU" sz="14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0 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ru-RU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λ</m:t>
                        </m:r>
                        <m:r>
                          <a:rPr lang="ru-RU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ru-RU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[</a:t>
                </a:r>
                <a:r>
                  <a:rPr lang="en-US" sz="1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r>
                  <a:rPr lang="ru-RU" sz="1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], где оператор </a:t>
                </a:r>
                <a:r>
                  <a:rPr lang="en-US" sz="1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round</a:t>
                </a:r>
                <a:r>
                  <a:rPr lang="ru-RU" sz="1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(.) – это округление до ближайшей гармоники.</a:t>
                </a:r>
              </a:p>
              <a:p>
                <a:endParaRPr lang="ru-RU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592047-CCAD-4274-99A2-C01009927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87" y="4200045"/>
                <a:ext cx="8121649" cy="2367699"/>
              </a:xfrm>
              <a:prstGeom prst="rect">
                <a:avLst/>
              </a:prstGeom>
              <a:blipFill>
                <a:blip r:embed="rId5"/>
                <a:stretch>
                  <a:fillRect l="-2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3" name="Rectangle 2"/>
          <p:cNvSpPr>
            <a:spLocks noChangeArrowheads="1"/>
          </p:cNvSpPr>
          <p:nvPr/>
        </p:nvSpPr>
        <p:spPr bwMode="auto">
          <a:xfrm>
            <a:off x="611188" y="142875"/>
            <a:ext cx="812165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 одной гармонической линзы</a:t>
            </a:r>
          </a:p>
        </p:txBody>
      </p:sp>
      <p:sp>
        <p:nvSpPr>
          <p:cNvPr id="26634" name="TextBox 7"/>
          <p:cNvSpPr txBox="1">
            <a:spLocks noChangeArrowheads="1"/>
          </p:cNvSpPr>
          <p:nvPr/>
        </p:nvSpPr>
        <p:spPr bwMode="auto">
          <a:xfrm>
            <a:off x="8067675" y="6332538"/>
            <a:ext cx="468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fld id="{96348030-A236-4F4C-8A00-5E5576D9205F}" type="slidenum">
              <a:rPr lang="ru-RU">
                <a:solidFill>
                  <a:schemeClr val="bg1"/>
                </a:solidFill>
                <a:latin typeface="Elektra Medium Pro"/>
              </a:rPr>
              <a:pPr algn="ctr"/>
              <a:t>6</a:t>
            </a:fld>
            <a:endParaRPr lang="ru-RU">
              <a:solidFill>
                <a:schemeClr val="bg1"/>
              </a:solidFill>
              <a:latin typeface="Elektra Medium Pr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6CE95-C477-41AE-8CDE-72BF71A01975}"/>
              </a:ext>
            </a:extLst>
          </p:cNvPr>
          <p:cNvSpPr txBox="1"/>
          <p:nvPr/>
        </p:nvSpPr>
        <p:spPr>
          <a:xfrm>
            <a:off x="611188" y="932850"/>
            <a:ext cx="81216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Проверим зависимость длины волны от фокусного расстояния. </a:t>
            </a:r>
          </a:p>
          <a:p>
            <a:pPr indent="450000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Гармоническая линза пропускает свет диапазона 400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нм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1000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нм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450000"/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Эксперимент с одной линзой используется в качестве эталонного случая, на которой впоследствии будут опираться при анализе более сложных систем, включающих более одной линзы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930780A-C5F4-4B7C-9D9E-E1F500511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146806"/>
              </p:ext>
            </p:extLst>
          </p:nvPr>
        </p:nvGraphicFramePr>
        <p:xfrm>
          <a:off x="1530350" y="1948513"/>
          <a:ext cx="5937252" cy="7006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4313">
                  <a:extLst>
                    <a:ext uri="{9D8B030D-6E8A-4147-A177-3AD203B41FA5}">
                      <a16:colId xmlns:a16="http://schemas.microsoft.com/office/drawing/2014/main" val="2947099614"/>
                    </a:ext>
                  </a:extLst>
                </a:gridCol>
                <a:gridCol w="1484313">
                  <a:extLst>
                    <a:ext uri="{9D8B030D-6E8A-4147-A177-3AD203B41FA5}">
                      <a16:colId xmlns:a16="http://schemas.microsoft.com/office/drawing/2014/main" val="2626357098"/>
                    </a:ext>
                  </a:extLst>
                </a:gridCol>
                <a:gridCol w="1484313">
                  <a:extLst>
                    <a:ext uri="{9D8B030D-6E8A-4147-A177-3AD203B41FA5}">
                      <a16:colId xmlns:a16="http://schemas.microsoft.com/office/drawing/2014/main" val="1021302702"/>
                    </a:ext>
                  </a:extLst>
                </a:gridCol>
                <a:gridCol w="1484313">
                  <a:extLst>
                    <a:ext uri="{9D8B030D-6E8A-4147-A177-3AD203B41FA5}">
                      <a16:colId xmlns:a16="http://schemas.microsoft.com/office/drawing/2014/main" val="35412567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100" dirty="0">
                          <a:effectLst/>
                        </a:rPr>
                        <a:t>Номер линзы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100" dirty="0">
                          <a:effectLst/>
                        </a:rPr>
                        <a:t>Гармоника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100" dirty="0">
                          <a:effectLst/>
                        </a:rPr>
                        <a:t>Базовая длина волны, </a:t>
                      </a:r>
                      <a:r>
                        <a:rPr lang="ru-RU" sz="1100" dirty="0" err="1">
                          <a:effectLst/>
                        </a:rPr>
                        <a:t>нм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100" dirty="0">
                          <a:effectLst/>
                        </a:rPr>
                        <a:t>Базовый фокус линзы, мм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4937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1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100" dirty="0">
                          <a:effectLst/>
                        </a:rPr>
                        <a:t>55</a:t>
                      </a:r>
                      <a:r>
                        <a:rPr lang="en-US" sz="1100" dirty="0">
                          <a:effectLst/>
                        </a:rPr>
                        <a:t>0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65852741"/>
                  </a:ext>
                </a:extLst>
              </a:tr>
            </a:tbl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7FB229B-3840-4A06-A901-A6F9D0ED69C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036" y="2736990"/>
            <a:ext cx="4607928" cy="3363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3" name="Rectangle 2"/>
          <p:cNvSpPr>
            <a:spLocks noChangeArrowheads="1"/>
          </p:cNvSpPr>
          <p:nvPr/>
        </p:nvSpPr>
        <p:spPr bwMode="auto">
          <a:xfrm>
            <a:off x="611188" y="142875"/>
            <a:ext cx="812165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 оптимизации</a:t>
            </a:r>
          </a:p>
        </p:txBody>
      </p:sp>
      <p:sp>
        <p:nvSpPr>
          <p:cNvPr id="26634" name="TextBox 7"/>
          <p:cNvSpPr txBox="1">
            <a:spLocks noChangeArrowheads="1"/>
          </p:cNvSpPr>
          <p:nvPr/>
        </p:nvSpPr>
        <p:spPr bwMode="auto">
          <a:xfrm>
            <a:off x="8067675" y="6332538"/>
            <a:ext cx="468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fld id="{96348030-A236-4F4C-8A00-5E5576D9205F}" type="slidenum">
              <a:rPr lang="ru-RU">
                <a:solidFill>
                  <a:schemeClr val="bg1"/>
                </a:solidFill>
                <a:latin typeface="Elektra Medium Pro"/>
              </a:rPr>
              <a:pPr algn="ctr"/>
              <a:t>7</a:t>
            </a:fld>
            <a:endParaRPr lang="ru-RU">
              <a:solidFill>
                <a:schemeClr val="bg1"/>
              </a:solidFill>
              <a:latin typeface="Elektra Medium Pr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6CE95-C477-41AE-8CDE-72BF71A01975}"/>
              </a:ext>
            </a:extLst>
          </p:cNvPr>
          <p:cNvSpPr txBox="1"/>
          <p:nvPr/>
        </p:nvSpPr>
        <p:spPr>
          <a:xfrm>
            <a:off x="611188" y="1025823"/>
            <a:ext cx="812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оценки хроматических аберраций системы функция потерь определяется как хроматический сдвиг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Δf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представляющий собой разность между максимальным и минимальным значениями фокусного расстояния в исследуемом спектральном диапазоне.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8CC3CC-D677-4DCE-939C-A8F7207C3407}"/>
                  </a:ext>
                </a:extLst>
              </p:cNvPr>
              <p:cNvSpPr txBox="1"/>
              <p:nvPr/>
            </p:nvSpPr>
            <p:spPr>
              <a:xfrm>
                <a:off x="611188" y="1763847"/>
                <a:ext cx="812165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0000"/>
                <a:r>
                  <a:rPr lang="ru-RU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 потерь задаётся следующим образом: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ru-RU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sz="12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высоты линз</a:t>
                </a:r>
                <a:r>
                  <a: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252000"/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ru-RU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диапазон длин волн</a:t>
                </a:r>
                <a:r>
                  <a: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12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52000"/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ru-RU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эффективное фокусное расстояние системы, рассчитанное матричным методом.</a:t>
                </a:r>
                <a:endParaRPr lang="en-US" sz="12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8CC3CC-D677-4DCE-939C-A8F7207C3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88" y="1763847"/>
                <a:ext cx="8121650" cy="1015663"/>
              </a:xfrm>
              <a:prstGeom prst="rect">
                <a:avLst/>
              </a:prstGeom>
              <a:blipFill>
                <a:blip r:embed="rId2"/>
                <a:stretch>
                  <a:fillRect b="-35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4368A89-583F-4A0C-BC67-F954ED6297DF}"/>
              </a:ext>
            </a:extLst>
          </p:cNvPr>
          <p:cNvSpPr txBox="1"/>
          <p:nvPr/>
        </p:nvSpPr>
        <p:spPr>
          <a:xfrm>
            <a:off x="611188" y="3105979"/>
            <a:ext cx="812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/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данной работе будет использован метод </a:t>
            </a:r>
            <a:r>
              <a:rPr lang="ru-RU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частичного</a:t>
            </a: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перебора, основанный на полном переборе (</a:t>
            </a:r>
            <a:r>
              <a:rPr lang="en-US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Grid Search</a:t>
            </a: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000"/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Суть метода заключается в формировании регулярной сетки значений для параметров </a:t>
            </a:r>
            <a:r>
              <a:rPr lang="en-US" sz="1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 </a:t>
            </a: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заданных диапазонах. Для каждой точке на сетке вычисляется значение фокального отрезка. Выбирается точка с минимальным значением.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0BEA7C-EC78-46AD-B9EF-CEA4D7D314AB}"/>
              </a:ext>
            </a:extLst>
          </p:cNvPr>
          <p:cNvSpPr txBox="1"/>
          <p:nvPr/>
        </p:nvSpPr>
        <p:spPr>
          <a:xfrm>
            <a:off x="608012" y="3924058"/>
            <a:ext cx="4130842" cy="2408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800"/>
              </a:spcAf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Преимущества </a:t>
            </a:r>
            <a:r>
              <a:rPr lang="ru-RU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метода:</a:t>
            </a:r>
            <a:endParaRPr lang="ru-RU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Гарантированное нахождение глобального минимума при достаточно плотной сетки.</a:t>
            </a: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Простота реализации.</a:t>
            </a: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Отсутствие необходимости в градиентах и производных.</a:t>
            </a: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Эффективность при малом числе параметров.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3749DA-4264-43B2-9F8B-973A3E5829DA}"/>
              </a:ext>
            </a:extLst>
          </p:cNvPr>
          <p:cNvSpPr txBox="1"/>
          <p:nvPr/>
        </p:nvSpPr>
        <p:spPr>
          <a:xfrm>
            <a:off x="4962943" y="3935814"/>
            <a:ext cx="3769895" cy="2626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800"/>
              </a:spcAf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Недостатки метода:</a:t>
            </a: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Экспоненциальный рост количества вычислений при увеличении числа параметров.</a:t>
            </a: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Неэффективен при высокой размерности пространства параметров.</a:t>
            </a: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Зависимость результата от выбранного шага сетки.</a:t>
            </a:r>
          </a:p>
          <a:p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628234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3" name="Rectangle 2"/>
          <p:cNvSpPr>
            <a:spLocks noChangeArrowheads="1"/>
          </p:cNvSpPr>
          <p:nvPr/>
        </p:nvSpPr>
        <p:spPr bwMode="auto">
          <a:xfrm>
            <a:off x="611188" y="142875"/>
            <a:ext cx="812165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Сравнения методов оптимизации</a:t>
            </a:r>
          </a:p>
        </p:txBody>
      </p:sp>
      <p:sp>
        <p:nvSpPr>
          <p:cNvPr id="26634" name="TextBox 7"/>
          <p:cNvSpPr txBox="1">
            <a:spLocks noChangeArrowheads="1"/>
          </p:cNvSpPr>
          <p:nvPr/>
        </p:nvSpPr>
        <p:spPr bwMode="auto">
          <a:xfrm>
            <a:off x="8067675" y="6332538"/>
            <a:ext cx="468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fld id="{96348030-A236-4F4C-8A00-5E5576D9205F}" type="slidenum">
              <a:rPr lang="ru-RU">
                <a:solidFill>
                  <a:schemeClr val="bg1"/>
                </a:solidFill>
                <a:latin typeface="Elektra Medium Pro"/>
              </a:rPr>
              <a:pPr algn="ctr"/>
              <a:t>8</a:t>
            </a:fld>
            <a:endParaRPr lang="ru-RU">
              <a:solidFill>
                <a:schemeClr val="bg1"/>
              </a:solidFill>
              <a:latin typeface="Elektra Medium Pr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91D8D-1FFB-4ED0-96A2-BACE26988923}"/>
              </a:ext>
            </a:extLst>
          </p:cNvPr>
          <p:cNvSpPr txBox="1"/>
          <p:nvPr/>
        </p:nvSpPr>
        <p:spPr>
          <a:xfrm>
            <a:off x="4572000" y="1944517"/>
            <a:ext cx="40599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 функции потерь для 2-х гармонических линз демонстрирует следующие особенности: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 четко локализированного глобального минимума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выраженный разрывный характер поверхности, обусловленный дискретным переключением рабочих порядков дифракции 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сложная невыпуклая топология с обилием локальных экстремумов, которая делает применение классических градиентных методов неэффективным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CED3A0-1FFE-46FB-94EC-B7A2C2180C96}"/>
              </a:ext>
            </a:extLst>
          </p:cNvPr>
          <p:cNvSpPr txBox="1"/>
          <p:nvPr/>
        </p:nvSpPr>
        <p:spPr>
          <a:xfrm>
            <a:off x="749718" y="4421388"/>
            <a:ext cx="3922295" cy="1273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Градиентный спуск:</a:t>
            </a: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Недостатки: может застревать в локальных минимумах, требует вычисления производных, чувствителен к начальному приближению.</a:t>
            </a:r>
            <a:endParaRPr lang="ru-RU" sz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6B790B-6F70-4E56-B4BD-7812C5652FA5}"/>
              </a:ext>
            </a:extLst>
          </p:cNvPr>
          <p:cNvSpPr txBox="1"/>
          <p:nvPr/>
        </p:nvSpPr>
        <p:spPr>
          <a:xfrm>
            <a:off x="4443463" y="4419955"/>
            <a:ext cx="3831975" cy="1273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Генетические алгоритмы:</a:t>
            </a:r>
            <a:endParaRPr lang="ru-RU" sz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Недостатки: необходимость подбора </a:t>
            </a:r>
            <a:r>
              <a:rPr lang="ru-RU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гиперпараметров</a:t>
            </a: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отсутствие гарантии точного минимума, высокая вычислительная нагрузка.</a:t>
            </a:r>
            <a:endParaRPr lang="ru-RU" sz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87D705-99D1-4C9B-BB2F-24760CF9A4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70" y="1389365"/>
            <a:ext cx="4099684" cy="286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68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3" name="Rectangle 2"/>
          <p:cNvSpPr>
            <a:spLocks noChangeArrowheads="1"/>
          </p:cNvSpPr>
          <p:nvPr/>
        </p:nvSpPr>
        <p:spPr bwMode="auto">
          <a:xfrm>
            <a:off x="611188" y="142875"/>
            <a:ext cx="812165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оптимизации для 2-х гармонических линз</a:t>
            </a:r>
          </a:p>
        </p:txBody>
      </p:sp>
      <p:sp>
        <p:nvSpPr>
          <p:cNvPr id="26634" name="TextBox 7"/>
          <p:cNvSpPr txBox="1">
            <a:spLocks noChangeArrowheads="1"/>
          </p:cNvSpPr>
          <p:nvPr/>
        </p:nvSpPr>
        <p:spPr bwMode="auto">
          <a:xfrm>
            <a:off x="8067675" y="6332538"/>
            <a:ext cx="468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fld id="{96348030-A236-4F4C-8A00-5E5576D9205F}" type="slidenum">
              <a:rPr lang="ru-RU">
                <a:solidFill>
                  <a:schemeClr val="bg1"/>
                </a:solidFill>
                <a:latin typeface="Elektra Medium Pro"/>
              </a:rPr>
              <a:pPr algn="ctr"/>
              <a:t>9</a:t>
            </a:fld>
            <a:endParaRPr lang="ru-RU">
              <a:solidFill>
                <a:schemeClr val="bg1"/>
              </a:solidFill>
              <a:latin typeface="Elektra Medium Pr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A6CE95-C477-41AE-8CDE-72BF71A01975}"/>
                  </a:ext>
                </a:extLst>
              </p:cNvPr>
              <p:cNvSpPr txBox="1"/>
              <p:nvPr/>
            </p:nvSpPr>
            <p:spPr>
              <a:xfrm>
                <a:off x="611188" y="932850"/>
                <a:ext cx="8121650" cy="4463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0215">
                  <a:lnSpc>
                    <a:spcPct val="150000"/>
                  </a:lnSpc>
                </a:pPr>
                <a:r>
                  <a:rPr lang="ru-RU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 2-х гармонических линз, где одна из линз будет иметь фиксированную высоту и гармонику, алгоритм будет формировать список значений фокальных отрезков и высот для второй линзы.</a:t>
                </a:r>
                <a:endParaRPr lang="ru-RU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>
                  <a:lnSpc>
                    <a:spcPct val="150000"/>
                  </a:lnSpc>
                </a:pPr>
                <a:r>
                  <a:rPr lang="ru-RU" sz="12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Алгоритм </a:t>
                </a:r>
                <a:r>
                  <a:rPr lang="ru-RU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такой системы достаточно прост:</a:t>
                </a:r>
                <a:endParaRPr lang="ru-RU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>
                  <a:lnSpc>
                    <a:spcPct val="150000"/>
                  </a:lnSpc>
                </a:pPr>
                <a:r>
                  <a:rPr lang="ru-RU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Во-первых, задаётся левая и правая граница высот для исследования.</a:t>
                </a:r>
                <a:endParaRPr lang="ru-RU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>
                  <a:lnSpc>
                    <a:spcPct val="150000"/>
                  </a:lnSpc>
                </a:pPr>
                <a:r>
                  <a:rPr lang="ru-RU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Далее строится массив с шагом, содержащий высоты из заданного диапазона. Для каждой высоты из данного массива строится список значений фокального отрезка. С помощью оператора </a:t>
                </a:r>
                <a:r>
                  <a:rPr lang="en-US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min</a:t>
                </a:r>
                <a:r>
                  <a:rPr lang="ru-RU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() ищется минимального значение из списка, а с помощью функции </a:t>
                </a:r>
                <a:r>
                  <a:rPr lang="en-US" sz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numpy</a:t>
                </a:r>
                <a:r>
                  <a:rPr lang="ru-RU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r>
                  <a:rPr lang="en-US" sz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argmin</a:t>
                </a:r>
                <a:r>
                  <a:rPr lang="ru-RU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() находится индекс минимального значения, чтобы по этому индексу найти высоту, при которой значение фокального отрезка минимально.</a:t>
                </a:r>
              </a:p>
              <a:p>
                <a:pPr indent="450215" algn="just">
                  <a:lnSpc>
                    <a:spcPct val="150000"/>
                  </a:lnSpc>
                </a:pPr>
                <a:r>
                  <a:rPr lang="ru-RU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 ходе оптимизации должно получиться, что найденная высота, при которой достигается минимальное значение фокального отрезка, должна соответствовать формуле (</a:t>
                </a:r>
                <a:r>
                  <a:rPr lang="en-US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18</a:t>
                </a:r>
                <a:r>
                  <a:rPr lang="ru-RU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из статьи </a:t>
                </a:r>
                <a:r>
                  <a:rPr lang="en-US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[3]</a:t>
                </a:r>
                <a:r>
                  <a:rPr lang="ru-RU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</a:p>
              <a:p>
                <a:pPr indent="45021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1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ru-RU" sz="1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ru-RU" sz="1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1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</m:t>
                          </m:r>
                          <m:r>
                            <a:rPr lang="ru-RU" sz="1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h</m:t>
                          </m:r>
                          <m:f>
                            <m:fPr>
                              <m:ctrlPr>
                                <a:rPr lang="ru-RU" sz="1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ru-RU" sz="1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𝑚</m:t>
                              </m:r>
                              <m:r>
                                <a:rPr lang="ru-RU" sz="1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±0.5</m:t>
                              </m:r>
                            </m:num>
                            <m:den>
                              <m:r>
                                <a:rPr lang="ru-RU" sz="1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𝑚</m:t>
                              </m:r>
                            </m:den>
                          </m:f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[18]</m:t>
                          </m:r>
                          <m:r>
                            <a:rPr lang="ru-RU" sz="1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,#</m:t>
                          </m:r>
                        </m:e>
                      </m:eqArr>
                    </m:oMath>
                  </m:oMathPara>
                </a14:m>
                <a:endParaRPr lang="ru-RU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ru-RU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где </a:t>
                </a:r>
                <a:r>
                  <a:rPr lang="en-US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</a:t>
                </a:r>
                <a:r>
                  <a:rPr lang="ru-RU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– гармоника высоты </a:t>
                </a:r>
                <a:r>
                  <a:rPr lang="en-US" sz="12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  <a:r>
                  <a:rPr lang="ru-RU" sz="12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lnSpc>
                    <a:spcPct val="150000"/>
                  </a:lnSpc>
                </a:pPr>
                <a:r>
                  <a:rPr lang="ru-RU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Т.е. если зафиксировать </a:t>
                </a:r>
                <a:r>
                  <a:rPr lang="en-US" sz="12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h</a:t>
                </a:r>
                <a:r>
                  <a:rPr lang="en-US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равной 7 мкм при гармонике 7, то высота второй линзы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h</m:t>
                        </m:r>
                      </m:e>
                      <m:sub>
                        <m:r>
                          <a:rPr lang="ru-RU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должно равняться 7.5 мкм при гармонике 7.5 либо 6.5 мкм при гармонике 6.5.</a:t>
                </a:r>
                <a:endParaRPr lang="ru-RU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>
                  <a:lnSpc>
                    <a:spcPct val="150000"/>
                  </a:lnSpc>
                </a:pPr>
                <a:endParaRPr lang="ru-RU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A6CE95-C477-41AE-8CDE-72BF71A01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88" y="932850"/>
                <a:ext cx="8121650" cy="44631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78B12A2-0F2B-466C-BF1C-C7F27E3B878B}"/>
              </a:ext>
            </a:extLst>
          </p:cNvPr>
          <p:cNvSpPr txBox="1"/>
          <p:nvPr/>
        </p:nvSpPr>
        <p:spPr>
          <a:xfrm>
            <a:off x="608012" y="5870873"/>
            <a:ext cx="8021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Системы обобщенных гармонических линз для формирования изображений / Р. В. </a:t>
            </a:r>
            <a:r>
              <a:rPr lang="ru-RU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Скиданов</a:t>
            </a:r>
            <a:r>
              <a:rPr lang="ru-RU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С. В. </a:t>
            </a:r>
            <a:r>
              <a:rPr lang="ru-RU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Ганчевская</a:t>
            </a:r>
            <a:r>
              <a:rPr lang="ru-RU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В. С. Васильев, В. А. Бланк // Оптический журнал. – 2022. – Т. 89, № 3. – С. 13-19. – DOI 10.17586/1023-5086-2022-89-03-13-19. – EDN XNITMQ.</a:t>
            </a:r>
          </a:p>
          <a:p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951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3" name="Rectangle 2"/>
          <p:cNvSpPr>
            <a:spLocks noChangeArrowheads="1"/>
          </p:cNvSpPr>
          <p:nvPr/>
        </p:nvSpPr>
        <p:spPr bwMode="auto">
          <a:xfrm>
            <a:off x="611188" y="142875"/>
            <a:ext cx="812165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 двух гармонических линз</a:t>
            </a:r>
          </a:p>
        </p:txBody>
      </p:sp>
      <p:sp>
        <p:nvSpPr>
          <p:cNvPr id="26634" name="TextBox 7"/>
          <p:cNvSpPr txBox="1">
            <a:spLocks noChangeArrowheads="1"/>
          </p:cNvSpPr>
          <p:nvPr/>
        </p:nvSpPr>
        <p:spPr bwMode="auto">
          <a:xfrm>
            <a:off x="8067675" y="6332538"/>
            <a:ext cx="468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fld id="{96348030-A236-4F4C-8A00-5E5576D9205F}" type="slidenum">
              <a:rPr lang="ru-RU">
                <a:solidFill>
                  <a:schemeClr val="bg1"/>
                </a:solidFill>
                <a:latin typeface="Elektra Medium Pro"/>
              </a:rPr>
              <a:pPr algn="ctr"/>
              <a:t>10</a:t>
            </a:fld>
            <a:endParaRPr lang="ru-RU">
              <a:solidFill>
                <a:schemeClr val="bg1"/>
              </a:solidFill>
              <a:latin typeface="Elektra Medium Pro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930780A-C5F4-4B7C-9D9E-E1F500511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214407"/>
              </p:ext>
            </p:extLst>
          </p:nvPr>
        </p:nvGraphicFramePr>
        <p:xfrm>
          <a:off x="1648197" y="1033381"/>
          <a:ext cx="5847605" cy="8381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9521">
                  <a:extLst>
                    <a:ext uri="{9D8B030D-6E8A-4147-A177-3AD203B41FA5}">
                      <a16:colId xmlns:a16="http://schemas.microsoft.com/office/drawing/2014/main" val="2947099614"/>
                    </a:ext>
                  </a:extLst>
                </a:gridCol>
                <a:gridCol w="1169521">
                  <a:extLst>
                    <a:ext uri="{9D8B030D-6E8A-4147-A177-3AD203B41FA5}">
                      <a16:colId xmlns:a16="http://schemas.microsoft.com/office/drawing/2014/main" val="2626357098"/>
                    </a:ext>
                  </a:extLst>
                </a:gridCol>
                <a:gridCol w="1169521">
                  <a:extLst>
                    <a:ext uri="{9D8B030D-6E8A-4147-A177-3AD203B41FA5}">
                      <a16:colId xmlns:a16="http://schemas.microsoft.com/office/drawing/2014/main" val="1021302702"/>
                    </a:ext>
                  </a:extLst>
                </a:gridCol>
                <a:gridCol w="1169521">
                  <a:extLst>
                    <a:ext uri="{9D8B030D-6E8A-4147-A177-3AD203B41FA5}">
                      <a16:colId xmlns:a16="http://schemas.microsoft.com/office/drawing/2014/main" val="3541256703"/>
                    </a:ext>
                  </a:extLst>
                </a:gridCol>
                <a:gridCol w="1169521">
                  <a:extLst>
                    <a:ext uri="{9D8B030D-6E8A-4147-A177-3AD203B41FA5}">
                      <a16:colId xmlns:a16="http://schemas.microsoft.com/office/drawing/2014/main" val="27040883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000" dirty="0">
                          <a:effectLst/>
                        </a:rPr>
                        <a:t>Номер линзы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000" dirty="0">
                          <a:effectLst/>
                        </a:rPr>
                        <a:t>Гармоника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000" dirty="0">
                          <a:effectLst/>
                        </a:rPr>
                        <a:t>Базовая длина волны, </a:t>
                      </a:r>
                      <a:r>
                        <a:rPr lang="ru-RU" sz="1000" dirty="0" err="1">
                          <a:effectLst/>
                        </a:rPr>
                        <a:t>нм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000" dirty="0">
                          <a:effectLst/>
                        </a:rPr>
                        <a:t>Базовый фокус линзы, мм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Расстояние м/у линзами, мм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4937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000">
                          <a:effectLst/>
                        </a:rPr>
                        <a:t>1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5852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0346589"/>
                  </a:ext>
                </a:extLst>
              </a:tr>
            </a:tbl>
          </a:graphicData>
        </a:graphic>
      </p:graphicFrame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A262716D-CF65-4548-8AB7-1C449CDB6694}"/>
              </a:ext>
            </a:extLst>
          </p:cNvPr>
          <p:cNvGrpSpPr/>
          <p:nvPr/>
        </p:nvGrpSpPr>
        <p:grpSpPr>
          <a:xfrm>
            <a:off x="472373" y="2052289"/>
            <a:ext cx="8199251" cy="3180264"/>
            <a:chOff x="422509" y="2795361"/>
            <a:chExt cx="8199251" cy="3180264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33C26869-3621-4858-8350-4A26DC1582B6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509" y="2796825"/>
              <a:ext cx="3938654" cy="317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F1EF4929-B8F2-46DC-BE39-353F76CA7ED5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3360" y="2795361"/>
              <a:ext cx="3938400" cy="31802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BEDAB0B-BF3E-4379-A899-C8FD06506FDA}"/>
              </a:ext>
            </a:extLst>
          </p:cNvPr>
          <p:cNvSpPr txBox="1"/>
          <p:nvPr/>
        </p:nvSpPr>
        <p:spPr>
          <a:xfrm>
            <a:off x="611188" y="5316055"/>
            <a:ext cx="81216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Анализируя правый рисунок можно увидеть, что число «биений» для 2-х гармонических линз увеличилось вдвое, а также амплитуда колебаний фокального расстояния также уменьшается примерно вдвое по сравнению с одной гармонической линзой.</a:t>
            </a:r>
          </a:p>
          <a:p>
            <a:pPr indent="45000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ходе исследования получилось уменьшить значение фокального отрезка примерно в 1.75. Результаты согласуются с данными, которые получены в теории, поэтому можно сделать вывод об успешном опыте.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78008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3" name="Rectangle 2"/>
          <p:cNvSpPr>
            <a:spLocks noChangeArrowheads="1"/>
          </p:cNvSpPr>
          <p:nvPr/>
        </p:nvSpPr>
        <p:spPr bwMode="auto">
          <a:xfrm>
            <a:off x="611188" y="142875"/>
            <a:ext cx="812165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оптимизации для 3-х гармонических линз</a:t>
            </a:r>
          </a:p>
        </p:txBody>
      </p:sp>
      <p:sp>
        <p:nvSpPr>
          <p:cNvPr id="26634" name="TextBox 7"/>
          <p:cNvSpPr txBox="1">
            <a:spLocks noChangeArrowheads="1"/>
          </p:cNvSpPr>
          <p:nvPr/>
        </p:nvSpPr>
        <p:spPr bwMode="auto">
          <a:xfrm>
            <a:off x="8067675" y="6332538"/>
            <a:ext cx="468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fld id="{96348030-A236-4F4C-8A00-5E5576D9205F}" type="slidenum">
              <a:rPr lang="ru-RU">
                <a:solidFill>
                  <a:schemeClr val="bg1"/>
                </a:solidFill>
                <a:latin typeface="Elektra Medium Pro"/>
              </a:rPr>
              <a:pPr algn="ctr"/>
              <a:t>11</a:t>
            </a:fld>
            <a:endParaRPr lang="ru-RU">
              <a:solidFill>
                <a:schemeClr val="bg1"/>
              </a:solidFill>
              <a:latin typeface="Elektra Medium Pr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6CE95-C477-41AE-8CDE-72BF71A01975}"/>
              </a:ext>
            </a:extLst>
          </p:cNvPr>
          <p:cNvSpPr txBox="1"/>
          <p:nvPr/>
        </p:nvSpPr>
        <p:spPr>
          <a:xfrm>
            <a:off x="611188" y="932850"/>
            <a:ext cx="8121650" cy="4214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>
              <a:lnSpc>
                <a:spcPct val="150000"/>
              </a:lnSpc>
            </a:pPr>
            <a:r>
              <a:rPr lang="ru-RU" sz="1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Алгоритм</a:t>
            </a: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такой системы будет выглядеть следующим образом:</a:t>
            </a:r>
          </a:p>
          <a:p>
            <a:pPr indent="450215">
              <a:lnSpc>
                <a:spcPct val="150000"/>
              </a:lnSpc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первом этапе задаются левая и правая границы диапазона, в пределах которого будет проводиться исследование.</a:t>
            </a:r>
            <a:endParaRPr lang="ru-RU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>
              <a:lnSpc>
                <a:spcPct val="150000"/>
              </a:lnSpc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Далее выбирается одна линза, параметры которой фиксируются (7 мкм), в то время как для остальных линз будет осуществляться подбор оптимальных высот.</a:t>
            </a:r>
          </a:p>
          <a:p>
            <a:pPr indent="450215">
              <a:lnSpc>
                <a:spcPct val="150000"/>
              </a:lnSpc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Для перебора всех возможных комбинаций высот двух переменных линз организуются два вложенных цикла, в процессе которых формируется двумерная матрица, размерность которой соответствует количеству дискретных значений в массиве высот. Каждый элемент данной матрицы содержит значение фокального отрезка, рассчитанное для соответствующей пары высот.</a:t>
            </a:r>
          </a:p>
          <a:p>
            <a:pPr indent="450215">
              <a:lnSpc>
                <a:spcPct val="150000"/>
              </a:lnSpc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После завершения заполнения матрицы производится поиск глобального минимума — значения фокального отрезка, минимального по величине. 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Для этого используется функция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numpy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argmin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(), которая возвращает индекс минимального элемента, однако в виде одномерного (плоского) индекса. Для последующего получения соответствующих индексов строки и столбца в двумерной матрице применяется функция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numpy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unravel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_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index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(). Её первым аргументом является полученный одномерный индекс, а вторым — размерность матрицы. Таким образом определяется комбинация высот, при которой достигается минимальное значение фокального отрезка</a:t>
            </a:r>
            <a:endParaRPr lang="ru-RU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559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3" name="Rectangle 2"/>
          <p:cNvSpPr>
            <a:spLocks noChangeArrowheads="1"/>
          </p:cNvSpPr>
          <p:nvPr/>
        </p:nvSpPr>
        <p:spPr bwMode="auto">
          <a:xfrm>
            <a:off x="611188" y="142875"/>
            <a:ext cx="812165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 трёх гармонических линз</a:t>
            </a:r>
          </a:p>
        </p:txBody>
      </p:sp>
      <p:sp>
        <p:nvSpPr>
          <p:cNvPr id="26634" name="TextBox 7"/>
          <p:cNvSpPr txBox="1">
            <a:spLocks noChangeArrowheads="1"/>
          </p:cNvSpPr>
          <p:nvPr/>
        </p:nvSpPr>
        <p:spPr bwMode="auto">
          <a:xfrm>
            <a:off x="8067675" y="6332538"/>
            <a:ext cx="468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fld id="{96348030-A236-4F4C-8A00-5E5576D9205F}" type="slidenum">
              <a:rPr lang="ru-RU">
                <a:solidFill>
                  <a:schemeClr val="bg1"/>
                </a:solidFill>
                <a:latin typeface="Elektra Medium Pro"/>
              </a:rPr>
              <a:pPr algn="ctr"/>
              <a:t>12</a:t>
            </a:fld>
            <a:endParaRPr lang="ru-RU">
              <a:solidFill>
                <a:schemeClr val="bg1"/>
              </a:solidFill>
              <a:latin typeface="Elektra Medium Pro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930780A-C5F4-4B7C-9D9E-E1F500511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828515"/>
              </p:ext>
            </p:extLst>
          </p:nvPr>
        </p:nvGraphicFramePr>
        <p:xfrm>
          <a:off x="611187" y="887056"/>
          <a:ext cx="4857285" cy="8315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1457">
                  <a:extLst>
                    <a:ext uri="{9D8B030D-6E8A-4147-A177-3AD203B41FA5}">
                      <a16:colId xmlns:a16="http://schemas.microsoft.com/office/drawing/2014/main" val="2947099614"/>
                    </a:ext>
                  </a:extLst>
                </a:gridCol>
                <a:gridCol w="971457">
                  <a:extLst>
                    <a:ext uri="{9D8B030D-6E8A-4147-A177-3AD203B41FA5}">
                      <a16:colId xmlns:a16="http://schemas.microsoft.com/office/drawing/2014/main" val="2626357098"/>
                    </a:ext>
                  </a:extLst>
                </a:gridCol>
                <a:gridCol w="971457">
                  <a:extLst>
                    <a:ext uri="{9D8B030D-6E8A-4147-A177-3AD203B41FA5}">
                      <a16:colId xmlns:a16="http://schemas.microsoft.com/office/drawing/2014/main" val="1021302702"/>
                    </a:ext>
                  </a:extLst>
                </a:gridCol>
                <a:gridCol w="971457">
                  <a:extLst>
                    <a:ext uri="{9D8B030D-6E8A-4147-A177-3AD203B41FA5}">
                      <a16:colId xmlns:a16="http://schemas.microsoft.com/office/drawing/2014/main" val="3541256703"/>
                    </a:ext>
                  </a:extLst>
                </a:gridCol>
                <a:gridCol w="971457">
                  <a:extLst>
                    <a:ext uri="{9D8B030D-6E8A-4147-A177-3AD203B41FA5}">
                      <a16:colId xmlns:a16="http://schemas.microsoft.com/office/drawing/2014/main" val="27040883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</a:rPr>
                        <a:t>Номер линзы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</a:rPr>
                        <a:t>Гармоника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</a:rPr>
                        <a:t>Базовая длина волны, </a:t>
                      </a:r>
                      <a:r>
                        <a:rPr lang="ru-RU" sz="800" dirty="0" err="1">
                          <a:effectLst/>
                        </a:rPr>
                        <a:t>нм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</a:rPr>
                        <a:t>Базовый фокус линзы, мм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Расстояние м/у линзами, мм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4937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>
                          <a:effectLst/>
                        </a:rPr>
                        <a:t>1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65852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70346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4342151"/>
                  </a:ext>
                </a:extLst>
              </a:tr>
            </a:tbl>
          </a:graphicData>
        </a:graphic>
      </p:graphicFrame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5F6CF4E5-C001-47A9-9E25-8AD34A676179}"/>
              </a:ext>
            </a:extLst>
          </p:cNvPr>
          <p:cNvGrpSpPr/>
          <p:nvPr/>
        </p:nvGrpSpPr>
        <p:grpSpPr>
          <a:xfrm>
            <a:off x="360424" y="1914034"/>
            <a:ext cx="5665447" cy="4497941"/>
            <a:chOff x="581118" y="1920232"/>
            <a:chExt cx="5665447" cy="4497941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582E45-105F-4481-8967-9210FE90D95F}"/>
                </a:ext>
              </a:extLst>
            </p:cNvPr>
            <p:cNvGrpSpPr/>
            <p:nvPr/>
          </p:nvGrpSpPr>
          <p:grpSpPr>
            <a:xfrm>
              <a:off x="581118" y="1920232"/>
              <a:ext cx="5665447" cy="4497941"/>
              <a:chOff x="581118" y="1920232"/>
              <a:chExt cx="5665447" cy="4497941"/>
            </a:xfrm>
          </p:grpSpPr>
          <p:grpSp>
            <p:nvGrpSpPr>
              <p:cNvPr id="5" name="Группа 4">
                <a:extLst>
                  <a:ext uri="{FF2B5EF4-FFF2-40B4-BE49-F238E27FC236}">
                    <a16:creationId xmlns:a16="http://schemas.microsoft.com/office/drawing/2014/main" id="{035C3A6B-E583-41A9-9D87-7E5C8F41F6DE}"/>
                  </a:ext>
                </a:extLst>
              </p:cNvPr>
              <p:cNvGrpSpPr/>
              <p:nvPr/>
            </p:nvGrpSpPr>
            <p:grpSpPr>
              <a:xfrm>
                <a:off x="581118" y="1920232"/>
                <a:ext cx="5665447" cy="2206800"/>
                <a:chOff x="581118" y="1920232"/>
                <a:chExt cx="5665447" cy="2206800"/>
              </a:xfrm>
            </p:grpSpPr>
            <p:pic>
              <p:nvPicPr>
                <p:cNvPr id="14" name="Рисунок 13">
                  <a:extLst>
                    <a:ext uri="{FF2B5EF4-FFF2-40B4-BE49-F238E27FC236}">
                      <a16:creationId xmlns:a16="http://schemas.microsoft.com/office/drawing/2014/main" id="{2B09983A-1A7B-4975-8D14-245D0DB7EAB3}"/>
                    </a:ext>
                  </a:extLst>
                </p:cNvPr>
                <p:cNvPicPr/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1118" y="1920232"/>
                  <a:ext cx="2732610" cy="2206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5" name="Рисунок 14">
                  <a:extLst>
                    <a:ext uri="{FF2B5EF4-FFF2-40B4-BE49-F238E27FC236}">
                      <a16:creationId xmlns:a16="http://schemas.microsoft.com/office/drawing/2014/main" id="{0A880CC3-1CA9-47A5-9EEE-F347FC479075}"/>
                    </a:ext>
                  </a:extLst>
                </p:cNvPr>
                <p:cNvPicPr/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514165" y="1920232"/>
                  <a:ext cx="2732400" cy="2206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16" name="Рисунок 15">
                <a:extLst>
                  <a:ext uri="{FF2B5EF4-FFF2-40B4-BE49-F238E27FC236}">
                    <a16:creationId xmlns:a16="http://schemas.microsoft.com/office/drawing/2014/main" id="{A4B30C64-18C2-40F9-B816-9D88367D4626}"/>
                  </a:ext>
                </a:extLst>
              </p:cNvPr>
              <p:cNvPicPr/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1118" y="4211373"/>
                <a:ext cx="2732400" cy="2206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8FD79BF9-1E58-4A13-AA6E-2D400AF3E108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4165" y="4127032"/>
              <a:ext cx="2732400" cy="2206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8A93312-40DF-4C32-A273-B2FBDEF38E92}"/>
              </a:ext>
            </a:extLst>
          </p:cNvPr>
          <p:cNvSpPr txBox="1"/>
          <p:nvPr/>
        </p:nvSpPr>
        <p:spPr>
          <a:xfrm>
            <a:off x="6050968" y="907370"/>
            <a:ext cx="2732400" cy="5855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/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Входе эксперимента можно сказать, что алгоритм пришёл к одинаковым значениям высот во всех трёх случаях. При значениях 14.18 мкм и 13.18 мкм достигается минимум. Во всех трёх случаях наблюдается практически одно и тоже минимальное значение фокального отрезка системы. </a:t>
            </a:r>
          </a:p>
          <a:p>
            <a:pPr indent="450215"/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Во-первых, можно сказать, что система демонстрирует симметричное поведение – при фиксировании каждой линзы значение высот и фокального отрезка сохраняется.</a:t>
            </a:r>
          </a:p>
          <a:p>
            <a:pPr indent="450215"/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Во-вторых, значение фокального отрезка уменьшилось примерно в 2.6 раза по сравнению с одной гармонической линзы, что говорит об успешном эксперименте.</a:t>
            </a:r>
          </a:p>
          <a:p>
            <a:pPr indent="450215"/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рис в правом нижнем углу представлено сравнение поведения фокального отрезка в случае одной гармонической линзы и системы, состоящей из трёх линз. Анализ графика показывает, что при увеличении числа линз количество биений возрастает примерно в три раза. Одновременно с этим наблюдается уменьшение амплитуды колебаний фокусного расстояния примерно в три раза, что свидетельствует о повышенной устойчивости фокусировки в </a:t>
            </a:r>
            <a:r>
              <a:rPr lang="ru-RU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многолинзовой</a:t>
            </a: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системе.</a:t>
            </a:r>
          </a:p>
          <a:p>
            <a:pPr indent="450215">
              <a:lnSpc>
                <a:spcPct val="150000"/>
              </a:lnSpc>
            </a:pPr>
            <a:endParaRPr lang="ru-RU" sz="9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479458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3" name="Rectangle 2"/>
          <p:cNvSpPr>
            <a:spLocks noChangeArrowheads="1"/>
          </p:cNvSpPr>
          <p:nvPr/>
        </p:nvSpPr>
        <p:spPr bwMode="auto">
          <a:xfrm>
            <a:off x="611188" y="142875"/>
            <a:ext cx="812165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 трёх гармонических линз</a:t>
            </a:r>
          </a:p>
        </p:txBody>
      </p:sp>
      <p:sp>
        <p:nvSpPr>
          <p:cNvPr id="26634" name="TextBox 7"/>
          <p:cNvSpPr txBox="1">
            <a:spLocks noChangeArrowheads="1"/>
          </p:cNvSpPr>
          <p:nvPr/>
        </p:nvSpPr>
        <p:spPr bwMode="auto">
          <a:xfrm>
            <a:off x="8067675" y="6332538"/>
            <a:ext cx="468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fld id="{96348030-A236-4F4C-8A00-5E5576D9205F}" type="slidenum">
              <a:rPr lang="ru-RU">
                <a:solidFill>
                  <a:schemeClr val="bg1"/>
                </a:solidFill>
                <a:latin typeface="Elektra Medium Pro"/>
              </a:rPr>
              <a:pPr algn="ctr"/>
              <a:t>13</a:t>
            </a:fld>
            <a:endParaRPr lang="ru-RU">
              <a:solidFill>
                <a:schemeClr val="bg1"/>
              </a:solidFill>
              <a:latin typeface="Elektra Medium Pro"/>
            </a:endParaRP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EC98274E-B746-42BB-8A07-73C76AF1CA22}"/>
              </a:ext>
            </a:extLst>
          </p:cNvPr>
          <p:cNvGrpSpPr/>
          <p:nvPr/>
        </p:nvGrpSpPr>
        <p:grpSpPr>
          <a:xfrm>
            <a:off x="611187" y="1662775"/>
            <a:ext cx="8121650" cy="4702893"/>
            <a:chOff x="611188" y="1293414"/>
            <a:chExt cx="8121650" cy="4702893"/>
          </a:xfrm>
        </p:grpSpPr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73658E92-286E-4FB1-8BDD-9AB9F9E0C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88" y="1293414"/>
              <a:ext cx="3135261" cy="2351446"/>
            </a:xfrm>
            <a:prstGeom prst="rect">
              <a:avLst/>
            </a:prstGeom>
          </p:spPr>
        </p:pic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401EC6D7-A1CD-40E1-8F10-119B8543C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2964" y="3644860"/>
              <a:ext cx="3135262" cy="2351447"/>
            </a:xfrm>
            <a:prstGeom prst="rect">
              <a:avLst/>
            </a:prstGeom>
          </p:spPr>
        </p:pic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41FC7586-313D-4E2E-BC57-D1673E5BBE49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8438" y="1293414"/>
              <a:ext cx="3134400" cy="235080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5FD9B2E-4C66-4874-924A-63E5E951540F}"/>
              </a:ext>
            </a:extLst>
          </p:cNvPr>
          <p:cNvSpPr txBox="1"/>
          <p:nvPr/>
        </p:nvSpPr>
        <p:spPr>
          <a:xfrm>
            <a:off x="611188" y="854075"/>
            <a:ext cx="81216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учётом технологических ограничений минимальный фокальный отрезок равен 5.16 мм при высотах 7.3 мкм и 7.6 мкм соответственно. При таком подходе значение фокального отрезка уменьшается в 2.25 раза.</a:t>
            </a:r>
          </a:p>
        </p:txBody>
      </p:sp>
    </p:spTree>
    <p:extLst>
      <p:ext uri="{BB962C8B-B14F-4D97-AF65-F5344CB8AC3E}">
        <p14:creationId xmlns:p14="http://schemas.microsoft.com/office/powerpoint/2010/main" val="842507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3" name="Rectangle 2"/>
          <p:cNvSpPr>
            <a:spLocks noChangeArrowheads="1"/>
          </p:cNvSpPr>
          <p:nvPr/>
        </p:nvSpPr>
        <p:spPr bwMode="auto">
          <a:xfrm>
            <a:off x="611188" y="142875"/>
            <a:ext cx="812165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 четырёх гармонических линз</a:t>
            </a:r>
          </a:p>
        </p:txBody>
      </p:sp>
      <p:sp>
        <p:nvSpPr>
          <p:cNvPr id="26634" name="TextBox 7"/>
          <p:cNvSpPr txBox="1">
            <a:spLocks noChangeArrowheads="1"/>
          </p:cNvSpPr>
          <p:nvPr/>
        </p:nvSpPr>
        <p:spPr bwMode="auto">
          <a:xfrm>
            <a:off x="8067675" y="6332538"/>
            <a:ext cx="468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fld id="{96348030-A236-4F4C-8A00-5E5576D9205F}" type="slidenum">
              <a:rPr lang="ru-RU">
                <a:solidFill>
                  <a:schemeClr val="bg1"/>
                </a:solidFill>
                <a:latin typeface="Elektra Medium Pro"/>
              </a:rPr>
              <a:pPr algn="ctr"/>
              <a:t>14</a:t>
            </a:fld>
            <a:endParaRPr lang="ru-RU">
              <a:solidFill>
                <a:schemeClr val="bg1"/>
              </a:solidFill>
              <a:latin typeface="Elektra Medium Pro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930780A-C5F4-4B7C-9D9E-E1F500511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72116"/>
              </p:ext>
            </p:extLst>
          </p:nvPr>
        </p:nvGraphicFramePr>
        <p:xfrm>
          <a:off x="1287991" y="943760"/>
          <a:ext cx="6768040" cy="9901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53608">
                  <a:extLst>
                    <a:ext uri="{9D8B030D-6E8A-4147-A177-3AD203B41FA5}">
                      <a16:colId xmlns:a16="http://schemas.microsoft.com/office/drawing/2014/main" val="2947099614"/>
                    </a:ext>
                  </a:extLst>
                </a:gridCol>
                <a:gridCol w="1353608">
                  <a:extLst>
                    <a:ext uri="{9D8B030D-6E8A-4147-A177-3AD203B41FA5}">
                      <a16:colId xmlns:a16="http://schemas.microsoft.com/office/drawing/2014/main" val="2626357098"/>
                    </a:ext>
                  </a:extLst>
                </a:gridCol>
                <a:gridCol w="1353608">
                  <a:extLst>
                    <a:ext uri="{9D8B030D-6E8A-4147-A177-3AD203B41FA5}">
                      <a16:colId xmlns:a16="http://schemas.microsoft.com/office/drawing/2014/main" val="1021302702"/>
                    </a:ext>
                  </a:extLst>
                </a:gridCol>
                <a:gridCol w="1353608">
                  <a:extLst>
                    <a:ext uri="{9D8B030D-6E8A-4147-A177-3AD203B41FA5}">
                      <a16:colId xmlns:a16="http://schemas.microsoft.com/office/drawing/2014/main" val="3541256703"/>
                    </a:ext>
                  </a:extLst>
                </a:gridCol>
                <a:gridCol w="1353608">
                  <a:extLst>
                    <a:ext uri="{9D8B030D-6E8A-4147-A177-3AD203B41FA5}">
                      <a16:colId xmlns:a16="http://schemas.microsoft.com/office/drawing/2014/main" val="27040883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</a:rPr>
                        <a:t>Номер линзы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</a:rPr>
                        <a:t>Гармоника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</a:rPr>
                        <a:t>Базовая длина волны, </a:t>
                      </a:r>
                      <a:r>
                        <a:rPr lang="ru-RU" sz="800" dirty="0" err="1">
                          <a:effectLst/>
                        </a:rPr>
                        <a:t>нм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</a:rPr>
                        <a:t>Базовый фокус линзы, мм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Расстояние м/у линзами, мм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4937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>
                          <a:effectLst/>
                        </a:rPr>
                        <a:t>1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65852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70346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4342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10"/>
                        </a:spcBef>
                      </a:pPr>
                      <a:r>
                        <a:rPr lang="ru-RU" sz="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9580792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9227097-C17C-43D0-839C-A74BD74AEF8F}"/>
              </a:ext>
            </a:extLst>
          </p:cNvPr>
          <p:cNvSpPr txBox="1"/>
          <p:nvPr/>
        </p:nvSpPr>
        <p:spPr>
          <a:xfrm>
            <a:off x="611187" y="4762878"/>
            <a:ext cx="81216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</a:t>
            </a:r>
            <a:r>
              <a:rPr lang="ru-RU" sz="1200" dirty="0">
                <a:latin typeface="Times New Roman" panose="02020603050405020304" pitchFamily="18" charset="0"/>
                <a:ea typeface="Calibri" panose="020F0502020204030204" pitchFamily="34" charset="0"/>
              </a:rPr>
              <a:t>левом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рисунке представлена 3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-визуализация процесса оптимизации фокального отрезка для четырёх гармонических линз при фиксированной высоте первой линзы. Из графика видно, что минимальное значение достигается при следующих высотах:14.18 мкм, 13.98 мкм, 13.78 мкм. </a:t>
            </a: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Итоговое значение фокального отрезка составило 3.7 мм, что примерно в 3.2 раза меньше, чем в случае одиночной гармонической линзы.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00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правом рисунке представлено сравнение поведения фокального отрезка в случае одной гармонической линзы и системы, состоящей из четырёх линз. Анализ графика показывает, что при 4-х линз количество биений возрастает примерно в четыре раза. Одновременно с этим наблюдается уменьшение амплитуды колебаний фокусного расстояния примерно в четыре раза.</a:t>
            </a:r>
            <a:endParaRPr lang="ru-RU" sz="1200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9E50DEF-A540-4D1C-BB82-45A8EC6ED7DD}"/>
              </a:ext>
            </a:extLst>
          </p:cNvPr>
          <p:cNvGrpSpPr/>
          <p:nvPr/>
        </p:nvGrpSpPr>
        <p:grpSpPr>
          <a:xfrm>
            <a:off x="794963" y="2024504"/>
            <a:ext cx="7754095" cy="2816437"/>
            <a:chOff x="611187" y="1970381"/>
            <a:chExt cx="7754095" cy="2229489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D32ACCEC-A157-41E9-BB20-45426EA342F7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187" y="2130563"/>
              <a:ext cx="3160776" cy="19091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154F472F-EA2F-4F5F-A75B-A3F018DB19BA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4469" y="1970381"/>
              <a:ext cx="3960813" cy="2229489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959019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3" name="Rectangle 2"/>
          <p:cNvSpPr>
            <a:spLocks noChangeArrowheads="1"/>
          </p:cNvSpPr>
          <p:nvPr/>
        </p:nvSpPr>
        <p:spPr bwMode="auto">
          <a:xfrm>
            <a:off x="611188" y="142875"/>
            <a:ext cx="812165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 четырёх гармонических линз</a:t>
            </a:r>
          </a:p>
        </p:txBody>
      </p:sp>
      <p:sp>
        <p:nvSpPr>
          <p:cNvPr id="26634" name="TextBox 7"/>
          <p:cNvSpPr txBox="1">
            <a:spLocks noChangeArrowheads="1"/>
          </p:cNvSpPr>
          <p:nvPr/>
        </p:nvSpPr>
        <p:spPr bwMode="auto">
          <a:xfrm>
            <a:off x="8067675" y="6332538"/>
            <a:ext cx="468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fld id="{96348030-A236-4F4C-8A00-5E5576D9205F}" type="slidenum">
              <a:rPr lang="ru-RU">
                <a:solidFill>
                  <a:schemeClr val="bg1"/>
                </a:solidFill>
                <a:latin typeface="Elektra Medium Pro"/>
              </a:rPr>
              <a:pPr algn="ctr"/>
              <a:t>15</a:t>
            </a:fld>
            <a:endParaRPr lang="ru-RU">
              <a:solidFill>
                <a:schemeClr val="bg1"/>
              </a:solidFill>
              <a:latin typeface="Elektra Medium Pro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8EA7A1B0-4322-4783-8DE1-09EC0F33FE3F}"/>
              </a:ext>
            </a:extLst>
          </p:cNvPr>
          <p:cNvGrpSpPr/>
          <p:nvPr/>
        </p:nvGrpSpPr>
        <p:grpSpPr>
          <a:xfrm>
            <a:off x="770965" y="951465"/>
            <a:ext cx="4365812" cy="4955069"/>
            <a:chOff x="2289814" y="1207094"/>
            <a:chExt cx="4572000" cy="4796846"/>
          </a:xfrm>
        </p:grpSpPr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D158E3C2-B2A4-4E94-9153-38DB53C5C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9814" y="1207094"/>
              <a:ext cx="4572000" cy="2257185"/>
            </a:xfrm>
            <a:prstGeom prst="rect">
              <a:avLst/>
            </a:prstGeom>
          </p:spPr>
        </p:pic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ED23BA97-61C1-4CA6-95A0-A25CCD5D9A61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9814" y="3746740"/>
              <a:ext cx="4572000" cy="225720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59CF8A0-E572-4FAC-8CBC-AA5A39C44731}"/>
              </a:ext>
            </a:extLst>
          </p:cNvPr>
          <p:cNvSpPr txBox="1"/>
          <p:nvPr/>
        </p:nvSpPr>
        <p:spPr>
          <a:xfrm>
            <a:off x="5369859" y="2252051"/>
            <a:ext cx="336297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учетом технологических ограничений минимальный фокальный отрезок равен 4.1 мм при высотах 7.2 мкм, 7.4 мкм и 6.8 мкм при фиксировании высоты первой линзы равной 7 мкм. При таком подходе значение фокального отрезка уменьшается в 2.85 раза.</a:t>
            </a:r>
          </a:p>
        </p:txBody>
      </p:sp>
    </p:spTree>
    <p:extLst>
      <p:ext uri="{BB962C8B-B14F-4D97-AF65-F5344CB8AC3E}">
        <p14:creationId xmlns:p14="http://schemas.microsoft.com/office/powerpoint/2010/main" val="3409517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1" name="Rectangle 2"/>
          <p:cNvSpPr>
            <a:spLocks noChangeArrowheads="1"/>
          </p:cNvSpPr>
          <p:nvPr/>
        </p:nvSpPr>
        <p:spPr bwMode="auto">
          <a:xfrm>
            <a:off x="611188" y="142875"/>
            <a:ext cx="812165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3802" name="TextBox 7"/>
          <p:cNvSpPr txBox="1">
            <a:spLocks noChangeArrowheads="1"/>
          </p:cNvSpPr>
          <p:nvPr/>
        </p:nvSpPr>
        <p:spPr bwMode="auto">
          <a:xfrm>
            <a:off x="8067675" y="6332538"/>
            <a:ext cx="468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fld id="{0EB6A57C-2787-407C-A98F-D2B0B083B292}" type="slidenum">
              <a:rPr lang="ru-RU">
                <a:solidFill>
                  <a:schemeClr val="bg1"/>
                </a:solidFill>
                <a:latin typeface="Elektra Medium Pro"/>
              </a:rPr>
              <a:pPr algn="ctr"/>
              <a:t>16</a:t>
            </a:fld>
            <a:endParaRPr lang="ru-RU">
              <a:solidFill>
                <a:schemeClr val="bg1"/>
              </a:solidFill>
              <a:latin typeface="Elektra Medium Pr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A735A-ED13-4AA0-94DE-F81409FCC747}"/>
              </a:ext>
            </a:extLst>
          </p:cNvPr>
          <p:cNvSpPr txBox="1"/>
          <p:nvPr/>
        </p:nvSpPr>
        <p:spPr>
          <a:xfrm>
            <a:off x="611188" y="1317812"/>
            <a:ext cx="8121650" cy="4898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>
              <a:lnSpc>
                <a:spcPct val="150000"/>
              </a:lnSpc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данной работе получены следующие результаты: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arenR"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ыл реализован алгоритм для определения фокального отрезка для широкого диапазона длин волн падающего излучения в среде программирования 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VS Code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на языке 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arenR"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ыли определены оптимальные соотношения высот для системы, состоящей из 2-х гармонической линз. Моделирование показало, что найденное соотношение высот равно соотношению высот, которое можно найти по формуле (18), показывает адекватность разработанного алгоритма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arenR"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ыли найдены оптимальные высоты для системы, состоящей из 3-х гармонических линз, при которых наблюдается сокращение длины фокального отрезка в 2.6 раза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arenR"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ыли найдены оптимальные высоты для системы, состоящей их 4-х гармонических линз, при которых наблюдается сокращение длины фокального отрезка в 3.2 раза.</a:t>
            </a:r>
            <a:endParaRPr lang="ru-RU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411911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1"/>
          <p:cNvSpPr txBox="1">
            <a:spLocks noChangeArrowheads="1"/>
          </p:cNvSpPr>
          <p:nvPr/>
        </p:nvSpPr>
        <p:spPr bwMode="auto">
          <a:xfrm>
            <a:off x="7835900" y="6345238"/>
            <a:ext cx="4699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>
                <a:solidFill>
                  <a:schemeClr val="bg1"/>
                </a:solidFill>
                <a:latin typeface="Elektra Medium Pro"/>
              </a:rPr>
              <a:t>10</a:t>
            </a:r>
          </a:p>
        </p:txBody>
      </p:sp>
      <p:pic>
        <p:nvPicPr>
          <p:cNvPr id="18435" name="Рисунок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TextBox 4"/>
          <p:cNvSpPr txBox="1">
            <a:spLocks noChangeArrowheads="1"/>
          </p:cNvSpPr>
          <p:nvPr/>
        </p:nvSpPr>
        <p:spPr bwMode="auto">
          <a:xfrm>
            <a:off x="3603625" y="3330575"/>
            <a:ext cx="55403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>
            <a:spAutoFit/>
          </a:bodyPr>
          <a:lstStyle/>
          <a:p>
            <a:pPr algn="ctr"/>
            <a:r>
              <a:rPr lang="ru-RU" sz="2400" b="1">
                <a:solidFill>
                  <a:schemeClr val="bg1"/>
                </a:solidFill>
                <a:latin typeface="Elektra Text Pro"/>
              </a:rPr>
              <a:t>БЛАГОДАРЮ </a:t>
            </a:r>
          </a:p>
          <a:p>
            <a:pPr algn="ctr"/>
            <a:r>
              <a:rPr lang="ru-RU" sz="2400" b="1">
                <a:solidFill>
                  <a:schemeClr val="bg1"/>
                </a:solidFill>
                <a:latin typeface="Elektra Text Pro"/>
              </a:rPr>
              <a:t>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2139</TotalTime>
  <Words>2031</Words>
  <Application>Microsoft Office PowerPoint</Application>
  <PresentationFormat>Экран (4:3)</PresentationFormat>
  <Paragraphs>190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17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Elektra Medium Pro</vt:lpstr>
      <vt:lpstr>Elektra Text Pro</vt:lpstr>
      <vt:lpstr>Symbol</vt:lpstr>
      <vt:lpstr>Times New Roman</vt:lpstr>
      <vt:lpstr>Тема Office</vt:lpstr>
      <vt:lpstr>Оформление по умолчанию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Степанов</dc:creator>
  <cp:lastModifiedBy>Артём Васильев</cp:lastModifiedBy>
  <cp:revision>228</cp:revision>
  <dcterms:created xsi:type="dcterms:W3CDTF">2016-03-09T10:31:39Z</dcterms:created>
  <dcterms:modified xsi:type="dcterms:W3CDTF">2026-04-06T18:44:16Z</dcterms:modified>
</cp:coreProperties>
</file>